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  <p:sldMasterId id="214748370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Urbanist Medium"/>
      <p:regular r:id="rId28"/>
      <p:bold r:id="rId29"/>
      <p:italic r:id="rId30"/>
      <p:boldItalic r:id="rId31"/>
    </p:embeddedFont>
    <p:embeddedFont>
      <p:font typeface="Urbanist SemiBold"/>
      <p:regular r:id="rId32"/>
      <p:bold r:id="rId33"/>
      <p:italic r:id="rId34"/>
      <p:boldItalic r:id="rId35"/>
    </p:embeddedFont>
    <p:embeddedFont>
      <p:font typeface="Urbanis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62D1E9-EF5C-463E-8F89-B39CD02D7734}">
  <a:tblStyle styleId="{0F62D1E9-EF5C-463E-8F89-B39CD02D7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DB91C08-D16E-4729-AD69-C8FA3C58071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UrbanistMedium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rbanistMedium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Medium-boldItalic.fntdata"/><Relationship Id="rId30" Type="http://schemas.openxmlformats.org/officeDocument/2006/relationships/font" Target="fonts/UrbanistMedium-italic.fntdata"/><Relationship Id="rId11" Type="http://schemas.openxmlformats.org/officeDocument/2006/relationships/slide" Target="slides/slide4.xml"/><Relationship Id="rId33" Type="http://schemas.openxmlformats.org/officeDocument/2006/relationships/font" Target="fonts/UrbanistSemiBold-bold.fntdata"/><Relationship Id="rId10" Type="http://schemas.openxmlformats.org/officeDocument/2006/relationships/slide" Target="slides/slide3.xml"/><Relationship Id="rId32" Type="http://schemas.openxmlformats.org/officeDocument/2006/relationships/font" Target="fonts/UrbanistSemiBold-regular.fntdata"/><Relationship Id="rId13" Type="http://schemas.openxmlformats.org/officeDocument/2006/relationships/slide" Target="slides/slide6.xml"/><Relationship Id="rId35" Type="http://schemas.openxmlformats.org/officeDocument/2006/relationships/font" Target="fonts/UrbanistSemiBold-boldItalic.fntdata"/><Relationship Id="rId12" Type="http://schemas.openxmlformats.org/officeDocument/2006/relationships/slide" Target="slides/slide5.xml"/><Relationship Id="rId34" Type="http://schemas.openxmlformats.org/officeDocument/2006/relationships/font" Target="fonts/UrbanistSemiBold-italic.fntdata"/><Relationship Id="rId15" Type="http://schemas.openxmlformats.org/officeDocument/2006/relationships/slide" Target="slides/slide8.xml"/><Relationship Id="rId37" Type="http://schemas.openxmlformats.org/officeDocument/2006/relationships/font" Target="fonts/Urbanist-bold.fntdata"/><Relationship Id="rId14" Type="http://schemas.openxmlformats.org/officeDocument/2006/relationships/slide" Target="slides/slide7.xml"/><Relationship Id="rId36" Type="http://schemas.openxmlformats.org/officeDocument/2006/relationships/font" Target="fonts/Urbanist-regular.fntdata"/><Relationship Id="rId17" Type="http://schemas.openxmlformats.org/officeDocument/2006/relationships/slide" Target="slides/slide10.xml"/><Relationship Id="rId39" Type="http://schemas.openxmlformats.org/officeDocument/2006/relationships/font" Target="fonts/Urbanist-boldItalic.fntdata"/><Relationship Id="rId16" Type="http://schemas.openxmlformats.org/officeDocument/2006/relationships/slide" Target="slides/slide9.xml"/><Relationship Id="rId38" Type="http://schemas.openxmlformats.org/officeDocument/2006/relationships/font" Target="fonts/Urbanist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3274b9ebf583c48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3274b9ebf583c4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h3274b9ebf583c486_1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h3274b9ebf583c486_1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h3274b9ebf583c486_1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h3274b9ebf583c486_1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h3274b9ebf583c486_4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h3274b9ebf583c486_4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h3274b9ebf583c486_1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h3274b9ebf583c486_1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h3274b9ebf583c486_4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h3274b9ebf583c486_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h3274b9ebf583c486_4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h3274b9ebf583c486_4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h3274b9ebf583c486_1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h3274b9ebf583c486_1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h3274b9ebf583c486_4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h3274b9ebf583c486_4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h3274b9ebf583c486_1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h3274b9ebf583c486_1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h3274b9ebf583c486_1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h3274b9ebf583c486_1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3274b9ebf583c486_1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h3274b9ebf583c486_1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10" name="Google Shape;10;p2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22" name="Google Shape;22;p3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4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5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5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6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6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6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65" name="Google Shape;65;p7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7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7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7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7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8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8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8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9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9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9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0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0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1" name="Google Shape;11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11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1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1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2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2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3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1" name="Google Shape;141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4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15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5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bg>
      <p:bgPr>
        <a:solidFill>
          <a:srgbClr val="43434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4" name="Google Shape;1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7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p19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3" name="Google Shape;183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9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86" name="Google Shape;18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19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9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93" name="Google Shape;193;p20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4" name="Google Shape;194;p2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7" name="Google Shape;197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2" name="Google Shape;202;p21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2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1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21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21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214" name="Google Shape;214;p21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2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218" name="Google Shape;218;p22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2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2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2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2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23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3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3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3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35" name="Google Shape;235;p2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8" name="Google Shape;238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0" name="Google Shape;240;p23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48" name="Google Shape;248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4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1" name="Google Shape;251;p24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24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65" name="Google Shape;265;p25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66" name="Google Shape;266;p2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9" name="Google Shape;269;p25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0" name="Google Shape;270;p25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71" name="Google Shape;271;p25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72" name="Google Shape;272;p25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73" name="Google Shape;273;p25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74" name="Google Shape;274;p25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75" name="Google Shape;275;p25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76" name="Google Shape;276;p25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77" name="Google Shape;277;p25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78" name="Google Shape;278;p25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79" name="Google Shape;279;p25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80" name="Google Shape;280;p25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81" name="Google Shape;281;p25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82" name="Google Shape;282;p25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83" name="Google Shape;283;p25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284" name="Google Shape;284;p25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85" name="Google Shape;285;p25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286" name="Google Shape;286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26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2" name="Google Shape;292;p26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2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6" name="Google Shape;296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303" name="Google Shape;303;p27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304" name="Google Shape;304;p27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305" name="Google Shape;305;p27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306" name="Google Shape;306;p2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2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08" name="Google Shape;308;p27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309" name="Google Shape;309;p27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0" name="Google Shape;310;p27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1" name="Google Shape;311;p27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2" name="Google Shape;312;p27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313" name="Google Shape;313;p27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6" name="Google Shape;316;p27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317" name="Google Shape;317;p27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8" name="Google Shape;318;p27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9" name="Google Shape;319;p27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0" name="Google Shape;320;p27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321" name="Google Shape;321;p27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2" name="Google Shape;322;p27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3" name="Google Shape;323;p27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324" name="Google Shape;324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328" name="Google Shape;328;p28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9" name="Google Shape;329;p28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2" name="Google Shape;332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34" name="Google Shape;334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8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8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41" name="Google Shape;341;p29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342" name="Google Shape;342;p2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5" name="Google Shape;345;p29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347" name="Google Shape;34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4" name="Google Shape;354;p30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9" name="Google Shape;359;p30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0" name="Google Shape;360;p30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1" name="Google Shape;361;p30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2" name="Google Shape;362;p30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3" name="Google Shape;36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4" name="Google Shape;364;p30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365" name="Google Shape;365;p30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30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7" name="Google Shape;367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1" name="Google Shape;371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3" name="Google Shape;373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74" name="Google Shape;374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31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8" name="Google Shape;378;p31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9" name="Google Shape;379;p31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0" name="Google Shape;380;p31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1" name="Google Shape;381;p31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2" name="Google Shape;382;p31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3" name="Google Shape;383;p31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4" name="Google Shape;384;p31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31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6" name="Google Shape;386;p31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7" name="Google Shape;387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2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3" name="Google Shape;393;p3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4" name="Google Shape;394;p3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32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6" name="Google Shape;396;p32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7" name="Google Shape;397;p32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8" name="Google Shape;398;p32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9" name="Google Shape;399;p32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0" name="Google Shape;400;p32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1" name="Google Shape;401;p32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2" name="Google Shape;402;p32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3" name="Google Shape;403;p32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4" name="Google Shape;404;p32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5" name="Google Shape;405;p32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6" name="Google Shape;406;p32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7" name="Google Shape;407;p32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8" name="Google Shape;408;p32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9" name="Google Shape;409;p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13" name="Google Shape;413;p33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3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3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6" name="Google Shape;416;p3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17" name="Google Shape;417;p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3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19" name="Google Shape;419;p33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33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1" name="Google Shape;421;p33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3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3" name="Google Shape;423;p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7" name="Google Shape;427;p3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29" name="Google Shape;429;p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4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4" name="Google Shape;434;p34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4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6" name="Google Shape;436;p34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7" name="Google Shape;437;p34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8" name="Google Shape;438;p34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39" name="Google Shape;439;p34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4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34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2" name="Google Shape;442;p34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43" name="Google Shape;443;p34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34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5" name="Google Shape;445;p34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6" name="Google Shape;446;p34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7" name="Google Shape;447;p34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8" name="Google Shape;448;p34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9" name="Google Shape;449;p34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0" name="Google Shape;450;p34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1" name="Google Shape;451;p34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2" name="Google Shape;452;p34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53" name="Google Shape;453;p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7" name="Google Shape;457;p35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58" name="Google Shape;458;p35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59" name="Google Shape;459;p35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60" name="Google Shape;460;p35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1" name="Google Shape;461;p35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62" name="Google Shape;462;p35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5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35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65" name="Google Shape;465;p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5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7" name="Google Shape;467;p35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8" name="Google Shape;468;p35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9" name="Google Shape;469;p35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0" name="Google Shape;470;p35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1" name="Google Shape;471;p35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35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73" name="Google Shape;473;p35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74" name="Google Shape;474;p35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475" name="Google Shape;475;p35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6" name="Google Shape;476;p35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77" name="Google Shape;477;p35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78" name="Google Shape;478;p35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79" name="Google Shape;479;p35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80" name="Google Shape;480;p35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481" name="Google Shape;481;p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5" name="Google Shape;485;p3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6" name="Google Shape;486;p3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87" name="Google Shape;487;p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9" name="Google Shape;489;p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0" name="Google Shape;490;p36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36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492" name="Google Shape;492;p36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3" name="Google Shape;493;p36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4" name="Google Shape;494;p36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495" name="Google Shape;495;p36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496" name="Google Shape;496;p36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7" name="Google Shape;497;p36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8" name="Google Shape;498;p36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99" name="Google Shape;499;p36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2" name="Google Shape;502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7" name="Google Shape;50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6" name="Google Shape;516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1" name="Google Shape;521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2" name="Google Shape;522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7" name="Google Shape;527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4" name="Google Shape;534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5" name="Google Shape;535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6" name="Google Shape;536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0" name="Google Shape;540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4" name="Google Shape;544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5" name="Google Shape;545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49" name="Google Shape;549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0" name="Google Shape;55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1" name="Google Shape;551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2" name="Google Shape;552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3" name="Google Shape;553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4" name="Google Shape;554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7" name="Google Shape;557;p5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8" name="Google Shape;558;p5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59" name="Google Shape;559;p5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0" name="Google Shape;560;p5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1" name="Google Shape;561;p5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2" name="Google Shape;562;p5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3" name="Google Shape;563;p5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4" name="Google Shape;564;p5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7" name="Google Shape;567;p5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70" name="Google Shape;570;p5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5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5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73" name="Google Shape;57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4" name="Google Shape;574;p5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5" name="Google Shape;575;p5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78" name="Google Shape;578;p5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5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1" name="Google Shape;581;p5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83" name="Google Shape;58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4" name="Google Shape;584;p5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5" name="Google Shape;585;p5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6" name="Google Shape;586;p5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5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5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5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5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5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7" name="Google Shape;597;p5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5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5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3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45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29.xml"/><Relationship Id="rId35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28.xml"/><Relationship Id="rId34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31.xml"/><Relationship Id="rId37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33.xml"/><Relationship Id="rId39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32.xml"/><Relationship Id="rId38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8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5" name="Google Shape;605;p58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606" name="Google Shape;606;p58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607" name="Google Shape;607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08" name="Google Shape;608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09" name="Google Shape;609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0" name="Google Shape;610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1" name="Google Shape;611;p58"/>
          <p:cNvSpPr txBox="1"/>
          <p:nvPr>
            <p:ph type="title"/>
          </p:nvPr>
        </p:nvSpPr>
        <p:spPr>
          <a:xfrm>
            <a:off x="528350" y="1014050"/>
            <a:ext cx="4480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>
                <a:solidFill>
                  <a:schemeClr val="lt1"/>
                </a:solidFill>
              </a:rPr>
              <a:t>Rescue Route 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2" name="Google Shape;612;p58"/>
          <p:cNvSpPr txBox="1"/>
          <p:nvPr>
            <p:ph idx="2" type="subTitle"/>
          </p:nvPr>
        </p:nvSpPr>
        <p:spPr>
          <a:xfrm>
            <a:off x="326715" y="4683440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 October 2026</a:t>
            </a:r>
            <a:endParaRPr/>
          </a:p>
        </p:txBody>
      </p:sp>
      <p:sp>
        <p:nvSpPr>
          <p:cNvPr id="613" name="Google Shape;613;p58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Dawood Yaseer</a:t>
            </a:r>
            <a:endParaRPr/>
          </a:p>
        </p:txBody>
      </p:sp>
      <p:sp>
        <p:nvSpPr>
          <p:cNvPr id="614" name="Google Shape;614;p58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Jimmy To</a:t>
            </a:r>
            <a:endParaRPr/>
          </a:p>
        </p:txBody>
      </p:sp>
      <p:sp>
        <p:nvSpPr>
          <p:cNvPr id="615" name="Google Shape;615;p58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CPSC 335</a:t>
            </a:r>
            <a:r>
              <a:rPr lang="en-GB"/>
              <a:t>-16 Algorithms, Group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8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</a:t>
            </a:r>
            <a:endParaRPr/>
          </a:p>
        </p:txBody>
      </p:sp>
      <p:sp>
        <p:nvSpPr>
          <p:cNvPr id="617" name="Google Shape;617;p58"/>
          <p:cNvSpPr/>
          <p:nvPr/>
        </p:nvSpPr>
        <p:spPr>
          <a:xfrm>
            <a:off x="320975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8" name="Google Shape;618;p58"/>
          <p:cNvSpPr txBox="1"/>
          <p:nvPr>
            <p:ph idx="6" type="subTitle"/>
          </p:nvPr>
        </p:nvSpPr>
        <p:spPr>
          <a:xfrm>
            <a:off x="3276950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Brian Nguyen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 txBox="1"/>
          <p:nvPr>
            <p:ph type="title"/>
          </p:nvPr>
        </p:nvSpPr>
        <p:spPr>
          <a:xfrm>
            <a:off x="221175" y="1423363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Brief Overview</a:t>
            </a:r>
            <a:endParaRPr/>
          </a:p>
        </p:txBody>
      </p:sp>
      <p:sp>
        <p:nvSpPr>
          <p:cNvPr id="624" name="Google Shape;624;p59"/>
          <p:cNvSpPr txBox="1"/>
          <p:nvPr>
            <p:ph idx="1" type="body"/>
          </p:nvPr>
        </p:nvSpPr>
        <p:spPr>
          <a:xfrm>
            <a:off x="174075" y="1790238"/>
            <a:ext cx="4296600" cy="1696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-GB" sz="1200"/>
              <a:t>RescueRoute is a Python class project that matches surplus food donations with community groups and volunteer drivers. It compares FIFO and greedy scheduling. Each donation gets an assignment or a reason why it could not be assigned. All sample data is made up for this project. This is a class model, not a food-safety system or a tool approved for real pickup work. </a:t>
            </a:r>
            <a:endParaRPr sz="1200"/>
          </a:p>
        </p:txBody>
      </p:sp>
      <p:pic>
        <p:nvPicPr>
          <p:cNvPr id="625" name="Google Shape;62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888" y="581575"/>
            <a:ext cx="3980326" cy="398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0"/>
          <p:cNvSpPr/>
          <p:nvPr/>
        </p:nvSpPr>
        <p:spPr>
          <a:xfrm>
            <a:off x="5691950" y="807700"/>
            <a:ext cx="3223800" cy="36450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60"/>
          <p:cNvSpPr txBox="1"/>
          <p:nvPr>
            <p:ph type="title"/>
          </p:nvPr>
        </p:nvSpPr>
        <p:spPr>
          <a:xfrm>
            <a:off x="238800" y="762075"/>
            <a:ext cx="64803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Architecture</a:t>
            </a:r>
            <a:endParaRPr sz="4000"/>
          </a:p>
        </p:txBody>
      </p:sp>
      <p:sp>
        <p:nvSpPr>
          <p:cNvPr id="632" name="Google Shape;632;p60"/>
          <p:cNvSpPr txBox="1"/>
          <p:nvPr>
            <p:ph idx="8" type="subTitle"/>
          </p:nvPr>
        </p:nvSpPr>
        <p:spPr>
          <a:xfrm>
            <a:off x="178850" y="2119265"/>
            <a:ext cx="5513100" cy="251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The project’s code is split into several different files: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data_loader -</a:t>
            </a:r>
            <a:r>
              <a:rPr lang="en-GB" sz="1700"/>
              <a:t> </a:t>
            </a:r>
            <a:r>
              <a:rPr i="1" lang="en-GB" sz="1700"/>
              <a:t>reads the sample data and validates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matching -</a:t>
            </a:r>
            <a:r>
              <a:rPr lang="en-GB" sz="1700"/>
              <a:t> </a:t>
            </a:r>
            <a:r>
              <a:rPr i="1" lang="en-GB" sz="1700"/>
              <a:t>pairs appropriate assignments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algorithms -</a:t>
            </a:r>
            <a:r>
              <a:rPr lang="en-GB" sz="1700"/>
              <a:t> </a:t>
            </a:r>
            <a:r>
              <a:rPr i="1" lang="en-GB" sz="1700"/>
              <a:t>schedules according to FIFO/Greedy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metrics -</a:t>
            </a:r>
            <a:r>
              <a:rPr lang="en-GB" sz="1700"/>
              <a:t> </a:t>
            </a:r>
            <a:r>
              <a:rPr i="1" lang="en-GB" sz="1700"/>
              <a:t>calculates rates and any other relevant data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output -</a:t>
            </a:r>
            <a:r>
              <a:rPr lang="en-GB" sz="1700"/>
              <a:t> </a:t>
            </a:r>
            <a:r>
              <a:rPr i="1" lang="en-GB" sz="1700"/>
              <a:t>presents the assignments in a readable format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tests - </a:t>
            </a:r>
            <a:r>
              <a:rPr i="1" lang="en-GB" sz="1700"/>
              <a:t>unit tests to determine whether the functions correctly perform their action</a:t>
            </a:r>
            <a:endParaRPr i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Urbanist"/>
                <a:ea typeface="Urbanist"/>
                <a:cs typeface="Urbanist"/>
                <a:sym typeface="Urbanist"/>
              </a:rPr>
              <a:t>data - </a:t>
            </a:r>
            <a:r>
              <a:rPr i="1" lang="en-GB" sz="1700"/>
              <a:t>holds the sample data (donations, volunteers, recipients)</a:t>
            </a:r>
            <a:endParaRPr i="1" sz="1700"/>
          </a:p>
        </p:txBody>
      </p:sp>
      <p:pic>
        <p:nvPicPr>
          <p:cNvPr id="633" name="Google Shape;63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250" y="1271285"/>
            <a:ext cx="3155176" cy="271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1"/>
          <p:cNvSpPr txBox="1"/>
          <p:nvPr>
            <p:ph idx="8" type="subTitle"/>
          </p:nvPr>
        </p:nvSpPr>
        <p:spPr>
          <a:xfrm>
            <a:off x="178850" y="2119275"/>
            <a:ext cx="4052100" cy="251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DAFFDE"/>
                </a:solidFill>
                <a:latin typeface="Arial"/>
                <a:ea typeface="Arial"/>
                <a:cs typeface="Arial"/>
                <a:sym typeface="Arial"/>
              </a:rPr>
              <a:t>When it comes to the data for Rescue Route, we pull the data from three separate files:</a:t>
            </a:r>
            <a:endParaRPr sz="1400">
              <a:solidFill>
                <a:srgbClr val="DAFF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DAFFDE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DAFFDE"/>
                </a:solidFill>
                <a:latin typeface="Arial"/>
                <a:ea typeface="Arial"/>
                <a:cs typeface="Arial"/>
                <a:sym typeface="Arial"/>
              </a:rPr>
              <a:t>donations.json</a:t>
            </a:r>
            <a:endParaRPr sz="1400">
              <a:solidFill>
                <a:srgbClr val="DAFF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DAFFDE"/>
                </a:solidFill>
                <a:latin typeface="Arial"/>
                <a:ea typeface="Arial"/>
                <a:cs typeface="Arial"/>
                <a:sym typeface="Arial"/>
              </a:rPr>
              <a:t>recipients.json</a:t>
            </a:r>
            <a:endParaRPr sz="1400">
              <a:solidFill>
                <a:srgbClr val="DAFF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400"/>
              <a:buFont typeface="Arial"/>
              <a:buChar char="-"/>
            </a:pPr>
            <a:r>
              <a:rPr lang="en-GB" sz="1400">
                <a:solidFill>
                  <a:srgbClr val="DAFFDE"/>
                </a:solidFill>
                <a:latin typeface="Arial"/>
                <a:ea typeface="Arial"/>
                <a:cs typeface="Arial"/>
                <a:sym typeface="Arial"/>
              </a:rPr>
              <a:t>volunteers.json</a:t>
            </a:r>
            <a:endParaRPr sz="1400">
              <a:solidFill>
                <a:srgbClr val="DAFF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DAFFDE"/>
                </a:solidFill>
                <a:latin typeface="Arial"/>
                <a:ea typeface="Arial"/>
                <a:cs typeface="Arial"/>
                <a:sym typeface="Arial"/>
              </a:rPr>
              <a:t>The three files and the information that each dictionary holds can be found in the following slides.</a:t>
            </a:r>
            <a:endParaRPr sz="1400">
              <a:solidFill>
                <a:srgbClr val="DAFF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1"/>
          <p:cNvSpPr/>
          <p:nvPr/>
        </p:nvSpPr>
        <p:spPr>
          <a:xfrm>
            <a:off x="5691950" y="573950"/>
            <a:ext cx="3223800" cy="3878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0" name="Google Shape;640;p61"/>
          <p:cNvSpPr txBox="1"/>
          <p:nvPr>
            <p:ph type="title"/>
          </p:nvPr>
        </p:nvSpPr>
        <p:spPr>
          <a:xfrm>
            <a:off x="228600" y="788850"/>
            <a:ext cx="6480300" cy="73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Data Schema</a:t>
            </a:r>
            <a:endParaRPr sz="4000"/>
          </a:p>
        </p:txBody>
      </p:sp>
      <p:pic>
        <p:nvPicPr>
          <p:cNvPr id="641" name="Google Shape;64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037" y="747652"/>
            <a:ext cx="2877625" cy="35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2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accent4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4"/>
              </a:solidFill>
              <a:highlight>
                <a:schemeClr val="dk1"/>
              </a:highlight>
            </a:endParaRPr>
          </a:p>
        </p:txBody>
      </p:sp>
      <p:sp>
        <p:nvSpPr>
          <p:cNvPr id="647" name="Google Shape;647;p62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highlight>
                  <a:schemeClr val="dk1"/>
                </a:highlight>
                <a:latin typeface="Urbanist Medium"/>
                <a:ea typeface="Urbanist Medium"/>
                <a:cs typeface="Urbanist Medium"/>
                <a:sym typeface="Urbanist Medium"/>
              </a:rPr>
              <a:t>d</a:t>
            </a:r>
            <a:r>
              <a:rPr lang="en-GB" sz="1000">
                <a:solidFill>
                  <a:schemeClr val="accent4"/>
                </a:solidFill>
                <a:highlight>
                  <a:schemeClr val="dk1"/>
                </a:highlight>
                <a:latin typeface="Urbanist Medium"/>
                <a:ea typeface="Urbanist Medium"/>
                <a:cs typeface="Urbanist Medium"/>
                <a:sym typeface="Urbanist Medium"/>
              </a:rPr>
              <a:t>onation.json</a:t>
            </a:r>
            <a:endParaRPr sz="1000">
              <a:solidFill>
                <a:schemeClr val="accent4"/>
              </a:solidFill>
              <a:highlight>
                <a:schemeClr val="dk1"/>
              </a:highlight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aphicFrame>
        <p:nvGraphicFramePr>
          <p:cNvPr id="648" name="Google Shape;648;p62"/>
          <p:cNvGraphicFramePr/>
          <p:nvPr/>
        </p:nvGraphicFramePr>
        <p:xfrm>
          <a:off x="854075" y="52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{0F62D1E9-EF5C-463E-8F89-B39CD02D7734}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field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type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meaning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donation_id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Unique ID assigned to every donation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donor_name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Name of the donor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food_type</a:t>
                      </a:r>
                      <a:endParaRPr sz="1200">
                        <a:solidFill>
                          <a:srgbClr val="DAFFDE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Category of food (produce/prepared_meals)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q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uantity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number of units that donation provides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expiry_time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whole number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expiration time within the clock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pickup_area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The area where the food must be picked up from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ready_time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When the food becomes available for pickup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accent4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4"/>
              </a:solidFill>
              <a:highlight>
                <a:schemeClr val="dk1"/>
              </a:highlight>
            </a:endParaRPr>
          </a:p>
        </p:txBody>
      </p:sp>
      <p:sp>
        <p:nvSpPr>
          <p:cNvPr id="654" name="Google Shape;654;p6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highlight>
                  <a:schemeClr val="dk1"/>
                </a:highlight>
                <a:latin typeface="Urbanist Medium"/>
                <a:ea typeface="Urbanist Medium"/>
                <a:cs typeface="Urbanist Medium"/>
                <a:sym typeface="Urbanist Medium"/>
              </a:rPr>
              <a:t>recipient</a:t>
            </a:r>
            <a:r>
              <a:rPr lang="en-GB" sz="1000">
                <a:solidFill>
                  <a:schemeClr val="accent4"/>
                </a:solidFill>
                <a:highlight>
                  <a:schemeClr val="dk1"/>
                </a:highlight>
                <a:latin typeface="Urbanist Medium"/>
                <a:ea typeface="Urbanist Medium"/>
                <a:cs typeface="Urbanist Medium"/>
                <a:sym typeface="Urbanist Medium"/>
              </a:rPr>
              <a:t>.json</a:t>
            </a:r>
            <a:endParaRPr sz="1000">
              <a:solidFill>
                <a:schemeClr val="accent4"/>
              </a:solidFill>
              <a:highlight>
                <a:schemeClr val="dk1"/>
              </a:highlight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aphicFrame>
        <p:nvGraphicFramePr>
          <p:cNvPr id="655" name="Google Shape;655;p63"/>
          <p:cNvGraphicFramePr/>
          <p:nvPr/>
        </p:nvGraphicFramePr>
        <p:xfrm>
          <a:off x="854075" y="52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{0F62D1E9-EF5C-463E-8F89-B39CD02D7734}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field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type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meaning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recipient_id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Unique Recipient ID within list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organization_name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Name of organization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accepted_food_types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list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The accepted food type that the organization will take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capacity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The maximum capacity that the recipient can hold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area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The area in which the recipient resides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closing_time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The time in which the organization closes and no longer accepts donations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4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accent4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4"/>
              </a:solidFill>
              <a:highlight>
                <a:schemeClr val="dk1"/>
              </a:highlight>
            </a:endParaRPr>
          </a:p>
        </p:txBody>
      </p:sp>
      <p:sp>
        <p:nvSpPr>
          <p:cNvPr id="661" name="Google Shape;661;p64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4"/>
                </a:solidFill>
                <a:highlight>
                  <a:schemeClr val="dk1"/>
                </a:highlight>
                <a:latin typeface="Urbanist Medium"/>
                <a:ea typeface="Urbanist Medium"/>
                <a:cs typeface="Urbanist Medium"/>
                <a:sym typeface="Urbanist Medium"/>
              </a:rPr>
              <a:t>volunteers</a:t>
            </a:r>
            <a:r>
              <a:rPr lang="en-GB" sz="1000">
                <a:solidFill>
                  <a:schemeClr val="accent4"/>
                </a:solidFill>
                <a:highlight>
                  <a:schemeClr val="dk1"/>
                </a:highlight>
                <a:latin typeface="Urbanist Medium"/>
                <a:ea typeface="Urbanist Medium"/>
                <a:cs typeface="Urbanist Medium"/>
                <a:sym typeface="Urbanist Medium"/>
              </a:rPr>
              <a:t>.json</a:t>
            </a:r>
            <a:endParaRPr sz="1000">
              <a:solidFill>
                <a:schemeClr val="accent4"/>
              </a:solidFill>
              <a:highlight>
                <a:schemeClr val="dk1"/>
              </a:highlight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aphicFrame>
        <p:nvGraphicFramePr>
          <p:cNvPr id="662" name="Google Shape;662;p64"/>
          <p:cNvGraphicFramePr/>
          <p:nvPr/>
        </p:nvGraphicFramePr>
        <p:xfrm>
          <a:off x="854075" y="52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{0F62D1E9-EF5C-463E-8F89-B39CD02D7734}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field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type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meaning</a:t>
                      </a:r>
                      <a:endParaRPr b="1"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volunteer_id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Unique ID of volunteer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vehicle_capacity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Most units the volunteer can carry in a single pickup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area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text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Area that the driver resides in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a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vailable_from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First minute that the volunteer is available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available_until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When the volunteer becomes unavailable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max_pickups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w</a:t>
                      </a: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hole number, must be positive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4"/>
                          </a:solidFill>
                          <a:highlight>
                            <a:schemeClr val="dk1"/>
                          </a:highlight>
                        </a:rPr>
                        <a:t>The maximum amount of pickups that a volunteer can do</a:t>
                      </a:r>
                      <a:endParaRPr sz="1200">
                        <a:solidFill>
                          <a:schemeClr val="accent4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5"/>
          <p:cNvSpPr txBox="1"/>
          <p:nvPr>
            <p:ph type="title"/>
          </p:nvPr>
        </p:nvSpPr>
        <p:spPr>
          <a:xfrm>
            <a:off x="228600" y="72467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Greedy Rule</a:t>
            </a:r>
            <a:endParaRPr/>
          </a:p>
        </p:txBody>
      </p:sp>
      <p:sp>
        <p:nvSpPr>
          <p:cNvPr id="668" name="Google Shape;668;p65"/>
          <p:cNvSpPr txBox="1"/>
          <p:nvPr>
            <p:ph idx="1" type="body"/>
          </p:nvPr>
        </p:nvSpPr>
        <p:spPr>
          <a:xfrm>
            <a:off x="228600" y="1522050"/>
            <a:ext cx="4476900" cy="203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1500"/>
              <a:t>Our Greedy Rule goes as the following:</a:t>
            </a:r>
            <a:endParaRPr sz="15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Earliest Expiry First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Larger quantity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Earlier Ready Time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If all of the previous </a:t>
            </a:r>
            <a:r>
              <a:rPr lang="en-GB" sz="1800"/>
              <a:t>match</a:t>
            </a:r>
            <a:r>
              <a:rPr lang="en-GB" sz="1800"/>
              <a:t>, then remain in input order</a:t>
            </a:r>
            <a:endParaRPr sz="1800"/>
          </a:p>
        </p:txBody>
      </p:sp>
      <p:pic>
        <p:nvPicPr>
          <p:cNvPr id="669" name="Google Shape;6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113" y="1092025"/>
            <a:ext cx="4331875" cy="243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6"/>
          <p:cNvSpPr txBox="1"/>
          <p:nvPr>
            <p:ph type="title"/>
          </p:nvPr>
        </p:nvSpPr>
        <p:spPr>
          <a:xfrm>
            <a:off x="104850" y="187165"/>
            <a:ext cx="7231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ALGORITHMS AND COMPLEXITY</a:t>
            </a:r>
            <a:endParaRPr/>
          </a:p>
        </p:txBody>
      </p:sp>
      <p:sp>
        <p:nvSpPr>
          <p:cNvPr id="675" name="Google Shape;675;p66"/>
          <p:cNvSpPr txBox="1"/>
          <p:nvPr>
            <p:ph idx="1" type="body"/>
          </p:nvPr>
        </p:nvSpPr>
        <p:spPr>
          <a:xfrm>
            <a:off x="104850" y="700150"/>
            <a:ext cx="6019200" cy="10077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means donations,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means recipients, and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means volunteers.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Time complexity refers to how a function scales as input grows. Space means how much extra memory it uses.</a:t>
            </a:r>
            <a:endParaRPr sz="1200"/>
          </a:p>
        </p:txBody>
      </p:sp>
      <p:graphicFrame>
        <p:nvGraphicFramePr>
          <p:cNvPr id="676" name="Google Shape;676;p66"/>
          <p:cNvGraphicFramePr/>
          <p:nvPr/>
        </p:nvGraphicFramePr>
        <p:xfrm>
          <a:off x="228600" y="1589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{0DB91C08-D16E-4729-AD69-C8FA3C580711}</a:tableStyleId>
              </a:tblPr>
              <a:tblGrid>
                <a:gridCol w="4370550"/>
                <a:gridCol w="4316250"/>
              </a:tblGrid>
              <a:tr h="610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Function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lt1"/>
                          </a:solidFill>
                        </a:rPr>
                        <a:t>Worst-Case Time Complexity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schedule_fifo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O(D + V + D * R * V)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greedy_priority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O(1)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schedule_greedy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O(D log D + D + R + V + D * R * V)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calculate_metrics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O(D + R + V)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compare_strategies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lt1"/>
                          </a:solidFill>
                        </a:rPr>
                        <a:t>O(1)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7"/>
          <p:cNvSpPr txBox="1"/>
          <p:nvPr>
            <p:ph idx="4294967295" type="title"/>
          </p:nvPr>
        </p:nvSpPr>
        <p:spPr>
          <a:xfrm>
            <a:off x="233850" y="228600"/>
            <a:ext cx="3167400" cy="9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800"/>
              <a:t>Testing</a:t>
            </a:r>
            <a:endParaRPr sz="38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682" name="Google Shape;682;p67"/>
          <p:cNvSpPr txBox="1"/>
          <p:nvPr>
            <p:ph type="title"/>
          </p:nvPr>
        </p:nvSpPr>
        <p:spPr>
          <a:xfrm>
            <a:off x="0" y="4490475"/>
            <a:ext cx="4559700" cy="60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All 12 tests passed with no skipped tests on October 14, 2026.</a:t>
            </a:r>
            <a:endParaRPr/>
          </a:p>
        </p:txBody>
      </p:sp>
      <p:sp>
        <p:nvSpPr>
          <p:cNvPr id="683" name="Google Shape;683;p67"/>
          <p:cNvSpPr txBox="1"/>
          <p:nvPr>
            <p:ph idx="1" type="subTitle"/>
          </p:nvPr>
        </p:nvSpPr>
        <p:spPr>
          <a:xfrm>
            <a:off x="4515250" y="185850"/>
            <a:ext cx="4409700" cy="47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Volunteer carrying-space use, including multiple pickups and zero capacity.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A normal match with the right recipient, driver, and pickup time.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Duplicate donation IDs.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Donations expiring before, at, and just after pickup time.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A recipient that does not accept the food type.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Greedy order and its explanation.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Too little recipient space and an exact-capacity match.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Small vehicles, unavailable drivers, and drivers with no pickups left.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9.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Donations competing for space or pickups, without changing original inputs.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Empty lists, a JSON file containing </a:t>
            </a:r>
            <a:r>
              <a:rPr lang="en-GB" sz="1050">
                <a:solidFill>
                  <a:srgbClr val="79C0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`[]`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an invalid blank file, and zero rates.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11.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Different FIFO and greedy choices on the same original data.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FFA65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12.</a:t>
            </a:r>
            <a:r>
              <a:rPr lang="en-GB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A later, larger donation getting priority over an earlier, smaller one.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7"/>
          <p:cNvSpPr txBox="1"/>
          <p:nvPr>
            <p:ph idx="4294967295" type="body"/>
          </p:nvPr>
        </p:nvSpPr>
        <p:spPr>
          <a:xfrm>
            <a:off x="284675" y="1178100"/>
            <a:ext cx="3869100" cy="1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We have 12 total tests that are used to determine whether the program functions correctly. The unit tests that our program conducts can be viewed here.</a:t>
            </a:r>
            <a:endParaRPr sz="1800"/>
          </a:p>
        </p:txBody>
      </p:sp>
      <p:pic>
        <p:nvPicPr>
          <p:cNvPr id="685" name="Google Shape;68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0262" y="2223875"/>
            <a:ext cx="4685424" cy="245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8"/>
          <p:cNvSpPr txBox="1"/>
          <p:nvPr>
            <p:ph type="title"/>
          </p:nvPr>
        </p:nvSpPr>
        <p:spPr>
          <a:xfrm>
            <a:off x="228600" y="1885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Sample Output</a:t>
            </a:r>
            <a:endParaRPr/>
          </a:p>
        </p:txBody>
      </p:sp>
      <p:sp>
        <p:nvSpPr>
          <p:cNvPr id="691" name="Google Shape;691;p68"/>
          <p:cNvSpPr txBox="1"/>
          <p:nvPr>
            <p:ph idx="1" type="body"/>
          </p:nvPr>
        </p:nvSpPr>
        <p:spPr>
          <a:xfrm>
            <a:off x="450925" y="1077450"/>
            <a:ext cx="1171800" cy="2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Donation ID</a:t>
            </a:r>
            <a:endParaRPr sz="1800"/>
          </a:p>
        </p:txBody>
      </p:sp>
      <p:pic>
        <p:nvPicPr>
          <p:cNvPr id="692" name="Google Shape;69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600" y="1801500"/>
            <a:ext cx="6905625" cy="123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3" name="Google Shape;693;p68"/>
          <p:cNvCxnSpPr/>
          <p:nvPr/>
        </p:nvCxnSpPr>
        <p:spPr>
          <a:xfrm>
            <a:off x="1415325" y="1356050"/>
            <a:ext cx="496500" cy="7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68"/>
          <p:cNvCxnSpPr/>
          <p:nvPr/>
        </p:nvCxnSpPr>
        <p:spPr>
          <a:xfrm flipH="1">
            <a:off x="4082850" y="1304175"/>
            <a:ext cx="3039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68"/>
          <p:cNvCxnSpPr/>
          <p:nvPr/>
        </p:nvCxnSpPr>
        <p:spPr>
          <a:xfrm flipH="1">
            <a:off x="6024375" y="1533875"/>
            <a:ext cx="222300" cy="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68"/>
          <p:cNvCxnSpPr>
            <a:endCxn id="692" idx="1"/>
          </p:cNvCxnSpPr>
          <p:nvPr/>
        </p:nvCxnSpPr>
        <p:spPr>
          <a:xfrm flipH="1" rot="10800000">
            <a:off x="526200" y="2420625"/>
            <a:ext cx="515400" cy="35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68"/>
          <p:cNvCxnSpPr/>
          <p:nvPr/>
        </p:nvCxnSpPr>
        <p:spPr>
          <a:xfrm rot="10800000">
            <a:off x="6639475" y="2460150"/>
            <a:ext cx="489000" cy="88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68"/>
          <p:cNvCxnSpPr/>
          <p:nvPr/>
        </p:nvCxnSpPr>
        <p:spPr>
          <a:xfrm flipH="1">
            <a:off x="7676875" y="1889550"/>
            <a:ext cx="563100" cy="3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9" name="Google Shape;699;p68"/>
          <p:cNvCxnSpPr/>
          <p:nvPr/>
        </p:nvCxnSpPr>
        <p:spPr>
          <a:xfrm rot="10800000">
            <a:off x="3623550" y="2623125"/>
            <a:ext cx="244500" cy="10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" name="Google Shape;700;p68"/>
          <p:cNvSpPr txBox="1"/>
          <p:nvPr/>
        </p:nvSpPr>
        <p:spPr>
          <a:xfrm>
            <a:off x="3720100" y="974900"/>
            <a:ext cx="614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Area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68"/>
          <p:cNvSpPr txBox="1"/>
          <p:nvPr/>
        </p:nvSpPr>
        <p:spPr>
          <a:xfrm>
            <a:off x="5989350" y="1118375"/>
            <a:ext cx="139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Volunteer ID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68"/>
          <p:cNvSpPr txBox="1"/>
          <p:nvPr/>
        </p:nvSpPr>
        <p:spPr>
          <a:xfrm>
            <a:off x="8073175" y="1260075"/>
            <a:ext cx="1359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Recipient Capacity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68"/>
          <p:cNvSpPr txBox="1"/>
          <p:nvPr/>
        </p:nvSpPr>
        <p:spPr>
          <a:xfrm>
            <a:off x="6889375" y="3380950"/>
            <a:ext cx="18693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Accepted food types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4" name="Google Shape;704;p68"/>
          <p:cNvSpPr txBox="1"/>
          <p:nvPr/>
        </p:nvSpPr>
        <p:spPr>
          <a:xfrm>
            <a:off x="3512250" y="3771725"/>
            <a:ext cx="22134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Food capacity required for donation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5" name="Google Shape;705;p68"/>
          <p:cNvSpPr txBox="1"/>
          <p:nvPr/>
        </p:nvSpPr>
        <p:spPr>
          <a:xfrm>
            <a:off x="-60275" y="2770650"/>
            <a:ext cx="17868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Expiration time remaining for donation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9"/>
          <p:cNvSpPr txBox="1"/>
          <p:nvPr>
            <p:ph type="title"/>
          </p:nvPr>
        </p:nvSpPr>
        <p:spPr>
          <a:xfrm>
            <a:off x="228600" y="5868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1" name="Google Shape;711;p69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